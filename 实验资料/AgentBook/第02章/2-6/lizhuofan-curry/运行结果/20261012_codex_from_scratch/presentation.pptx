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原论文8位作者：Ashish Vaswani、Noam Shazeer、Niki Parmar、Jakob Uszkoreit、Llion Jones、Aidan N. Gomez、Łukasz Kaiser、Illia Polosukhin。论文发表于NIPS 2017，本次文件为arXiv v7，2023年更新。标题和作者见PDF第1页。
论文来源：https://arxiv.org/abs/1706.03762
PDF版本：1706.03762v7，2023-08-02。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PDF第2页Introduction、Background和Model Architecture。最后一点依据原论文自回归解码描述，不把训练并行误写为一次生成全部输出。
论文来源：https://arxiv.org/abs/1706.03762
PDF版本：1706.03762v7，2023-08-02。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PDF第3页Figure 1与3.1节。图为原始PDF重新渲染裁剪。注意这是2017年模型的Post-LN结构。
论文来源：https://arxiv.org/abs/1706.03762
PDF版本：1706.03762v7，2023-08-02。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PDF第4页式1和Figure 2。维度较大时点积幅度增大，缩放用于避免softmax进入梯度很小的区域。图保持原文件比例。
论文来源：https://arxiv.org/abs/1706.03762
PDF版本：1706.03762v7，2023-08-02。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PDF第4–5页3.2.2节，最后一句是为本章学习者区分模型配置的解释，不是原论文对Qwen的评价。
论文来源：https://arxiv.org/abs/1706.03762
PDF版本：1706.03762v7，2023-08-02。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PDF第5页3.2.3节。这里是中文整理表，表格为可编辑原生对象。掩码与输出右移共同保证预测不读取未知未来输出。
论文来源：https://arxiv.org/abs/1706.03762
PDF版本：1706.03762v7，2023-08-02。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PDF第5页3.3节与第6页3.5节。位置编码帮助模型利用位置顺序，不是语言语义的替代。前馈网络在各位置共享同层参数，各层参数不同。
论文来源：https://arxiv.org/abs/1706.03762
PDF版本：1706.03762v7，2023-08-02。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PDF第6页Table 1和第6–7页Why Self-Attention。表是论文原图。O(1)路径与O(n²d)复杂度描述不同指标，不能混用为恒定计算开销。
论文来源：https://arxiv.org/abs/1706.03762
PDF版本：1706.03762v7，2023-08-02。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PDF第7页5.1–5.3节、第8页5.4节。Base 100000步，Big 300000步。英法Big dropout 0.1，原文另有说明。这里的warmup是训练学习率预热，不是本章服务请求预热。
论文来源：https://arxiv.org/abs/1706.03762
PDF版本：1706.03762v7，2023-08-02。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PDF第8页Table 2的newstest2014测试结果。Base英德27.3、英法38.1；Big英德28.4、英法41.8。PDF第1页摘要与Table 2一致，但第8页正文6.1写41.0。未自行断定哪个是笔误。FLOPs由论文根据时间、GPU数和估计性能计算，并非本次测量。
论文来源：https://arxiv.org/abs/1706.03762
PDF版本：1706.03762v7，2023-08-02。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PDF第9页Table 3，选取(A)头数与(E)位置嵌入行制作可编辑摘要表。各头的dk、dv随头数调整以维持计算规模。开发集为newstest2013，不是Table 2的newstest2014。
论文来源：https://arxiv.org/abs/1706.03762
PDF版本：1706.03762v7，2023-08-02。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PDF第13页附录Figure 3。作者描述对making…more difficult的远距离依赖。最后一句为解释边界，不把注意力权重等同于答案因果贡献。图为原始论文裁剪。
论文来源：https://arxiv.org/abs/1706.03762
PDF版本：1706.03762v7，2023-08-02。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PDF第9页6.3节、第10页Table 4。这里仅整理Transformer两行，不声称超过表中全部模型：Dyer generative为93.3，Luong multi-task为93.0，条件不同。
论文来源：https://arxiv.org/abs/1706.03762
PDF版本：1706.03762v7，2023-08-02。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PDF第10页Conclusion，第2页自回归描述和第6页复杂度。论文原图归原作者，本汇报仅用于学习。主要来源：https://arxiv.org/abs/1706.03762。
论文来源：https://arxiv.org/abs/1706.03762
PDF版本：1706.03762v7，2023-08-02。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812750"/>
            <a:ext cx="8290509" cy="119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04"/>
              </a:lnSpc>
              <a:buNone/>
            </a:pPr>
            <a:r>
              <a:rPr lang="en-US" sz="42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Is</a:t>
            </a:r>
            <a:endParaRPr lang="en-US" sz="4200" dirty="0"/>
          </a:p>
          <a:p>
            <a:pPr algn="l" indent="0" marL="0">
              <a:lnSpc>
                <a:spcPts val="4704"/>
              </a:lnSpc>
              <a:buNone/>
            </a:pPr>
            <a:r>
              <a:rPr lang="en-US" sz="42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You Need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507950" y="2007543"/>
            <a:ext cx="8290509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spcAft>
                <a:spcPts val="1200"/>
              </a:spcAft>
              <a:buNone/>
            </a:pPr>
            <a:r>
              <a:rPr lang="en-US" sz="22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Transformer原论文学习汇报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7950" y="2523083"/>
            <a:ext cx="8290509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spcAft>
                <a:spcPts val="1200"/>
              </a:spcAft>
              <a:buNone/>
            </a:pP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Vaswani 等 · NIPS 2017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7950" y="2984004"/>
            <a:ext cx="829050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李卓凡 · 2026年10月12日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31750" y="4813250"/>
            <a:ext cx="8031379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spcAft>
                <a:spcPts val="12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来源：Vaswani 等，Attention Is All You Need，PDF第1页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521601" y="4813250"/>
            <a:ext cx="144063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spcAft>
                <a:spcPts val="12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81000"/>
            <a:ext cx="8445957" cy="464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58"/>
              </a:lnSpc>
              <a:buNone/>
            </a:pPr>
            <a:r>
              <a:rPr lang="en-US" sz="31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序列建模中的顺序计算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431750" y="1396901"/>
            <a:ext cx="8419999" cy="27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Aft>
                <a:spcPts val="900"/>
              </a:spcAft>
              <a:buNone/>
            </a:pPr>
            <a:r>
              <a:rPr lang="en-US" sz="1600" b="1" dirty="0">
                <a:solidFill>
                  <a:srgbClr val="126D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研究问题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31750" y="1785342"/>
            <a:ext cx="8419999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spcAft>
                <a:spcPts val="1200"/>
              </a:spcAft>
              <a:buNone/>
            </a:pPr>
            <a:r>
              <a:rPr lang="en-US" sz="22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怎样减少循环网络沿序列逐步计算的限制，同时学习远距离依赖？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31750" y="2300883"/>
            <a:ext cx="8254901" cy="1290042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520"/>
              </a:lnSpc>
              <a:spcAft>
                <a:spcPts val="1300"/>
              </a:spcAft>
              <a:buSzPct val="100000"/>
              <a:buChar char="•"/>
            </a:pPr>
            <a:r>
              <a:rPr lang="en-US" sz="18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RNN按位置更新隐藏状态，单个训练样本内难以并行。</a:t>
            </a:r>
            <a:endParaRPr lang="en-US" sz="1800" dirty="0"/>
          </a:p>
          <a:p>
            <a:pPr algn="l" marL="127000" indent="-127000">
              <a:lnSpc>
                <a:spcPts val="2520"/>
              </a:lnSpc>
              <a:spcAft>
                <a:spcPts val="1300"/>
              </a:spcAft>
              <a:buSzPct val="100000"/>
              <a:buChar char="•"/>
            </a:pPr>
            <a:r>
              <a:rPr lang="en-US" sz="18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Transformer用注意力连接不同位置，保留编码器—解码器框架。</a:t>
            </a:r>
            <a:endParaRPr lang="en-US" sz="1800" dirty="0"/>
          </a:p>
          <a:p>
            <a:pPr algn="l" marL="127000" indent="-127000">
              <a:lnSpc>
                <a:spcPts val="2520"/>
              </a:lnSpc>
              <a:spcAft>
                <a:spcPts val="1300"/>
              </a:spcAft>
              <a:buSzPct val="100000"/>
              <a:buChar char="•"/>
            </a:pPr>
            <a:r>
              <a:rPr lang="en-US" sz="18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这里的并行主要指训练计算，推理仍逐个生成输出token。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31750" y="4813250"/>
            <a:ext cx="8031379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spcAft>
                <a:spcPts val="12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来源：Vaswani 等，Attention Is All You Need，PDF第2页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521601" y="4813250"/>
            <a:ext cx="144063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spcAft>
                <a:spcPts val="12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81000"/>
            <a:ext cx="8445957" cy="464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58"/>
              </a:lnSpc>
              <a:buNone/>
            </a:pPr>
            <a:r>
              <a:rPr lang="en-US" sz="31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编码器与解码器架构</a:t>
            </a:r>
            <a:endParaRPr lang="en-US" sz="3100" dirty="0"/>
          </a:p>
        </p:txBody>
      </p:sp>
      <p:pic>
        <p:nvPicPr>
          <p:cNvPr id="3" name="Image 0" descr="E:/AI_Agents_Book/第二章/2.6论文生成演示文稿/运行结果/20261012_codex_from_scratch/source_visuals/figure1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801" y="1311176"/>
            <a:ext cx="2171700" cy="3143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000500" y="1371600"/>
            <a:ext cx="4673501" cy="1610023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520"/>
              </a:lnSpc>
              <a:spcAft>
                <a:spcPts val="1300"/>
              </a:spcAft>
              <a:buSzPct val="100000"/>
              <a:buChar char="•"/>
            </a:pPr>
            <a:r>
              <a:rPr lang="en-US" sz="18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编码器与解码器各堆叠6层。</a:t>
            </a:r>
            <a:endParaRPr lang="en-US" sz="1800" dirty="0"/>
          </a:p>
          <a:p>
            <a:pPr algn="l" marL="127000" indent="-127000">
              <a:lnSpc>
                <a:spcPts val="2520"/>
              </a:lnSpc>
              <a:spcAft>
                <a:spcPts val="1300"/>
              </a:spcAft>
              <a:buSzPct val="100000"/>
              <a:buChar char="•"/>
            </a:pPr>
            <a:r>
              <a:rPr lang="en-US" sz="18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编码器层：自注意力、逐位置前馈网络。</a:t>
            </a:r>
            <a:endParaRPr lang="en-US" sz="1800" dirty="0"/>
          </a:p>
          <a:p>
            <a:pPr algn="l" marL="127000" indent="-127000">
              <a:lnSpc>
                <a:spcPts val="2520"/>
              </a:lnSpc>
              <a:spcAft>
                <a:spcPts val="1300"/>
              </a:spcAft>
              <a:buSzPct val="100000"/>
              <a:buChar char="•"/>
            </a:pPr>
            <a:r>
              <a:rPr lang="en-US" sz="18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解码器增加掩码自注意力及对编码器输出的交叉注意力。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000500" y="3146673"/>
            <a:ext cx="476697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原论文采用残差后层归一化：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000500" y="3575298"/>
            <a:ext cx="476697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LayerNorm(x + Sublayer(x))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31750" y="4813250"/>
            <a:ext cx="8031379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spcAft>
                <a:spcPts val="12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来源：Vaswani 等，Attention Is All You Need，PDF第3页，Figure 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521601" y="4813250"/>
            <a:ext cx="144063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spcAft>
                <a:spcPts val="12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81000"/>
            <a:ext cx="8445957" cy="464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58"/>
              </a:lnSpc>
              <a:buNone/>
            </a:pPr>
            <a:r>
              <a:rPr lang="en-US" sz="31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缩放点积注意力</a:t>
            </a:r>
            <a:endParaRPr lang="en-US" sz="3100" dirty="0"/>
          </a:p>
        </p:txBody>
      </p:sp>
      <p:pic>
        <p:nvPicPr>
          <p:cNvPr id="3" name="Image 0" descr="E:/AI_Agents_Book/第二章/2.6论文生成演示文稿/运行结果/20261012_codex_from_scratch/source_visuals/figure2_atten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268" y="1650950"/>
            <a:ext cx="3496717" cy="195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46650" y="1396901"/>
            <a:ext cx="343275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Attention(Q, K, V)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5346650" y="1892201"/>
            <a:ext cx="343275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softmax(QKᵀ / √dₖ)V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5346650" y="2387501"/>
            <a:ext cx="3365450" cy="1290042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520"/>
              </a:lnSpc>
              <a:spcAft>
                <a:spcPts val="1300"/>
              </a:spcAft>
              <a:buSzPct val="100000"/>
              <a:buChar char="•"/>
            </a:pPr>
            <a:r>
              <a:rPr lang="en-US" sz="18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Q与K点积得到匹配分数。</a:t>
            </a:r>
            <a:endParaRPr lang="en-US" sz="1800" dirty="0"/>
          </a:p>
          <a:p>
            <a:pPr algn="l" marL="127000" indent="-127000">
              <a:lnSpc>
                <a:spcPts val="2520"/>
              </a:lnSpc>
              <a:spcAft>
                <a:spcPts val="1300"/>
              </a:spcAft>
              <a:buSzPct val="100000"/>
              <a:buChar char="•"/>
            </a:pPr>
            <a:r>
              <a:rPr lang="en-US" sz="18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缩放后用softmax归一化。</a:t>
            </a:r>
            <a:endParaRPr lang="en-US" sz="1800" dirty="0"/>
          </a:p>
          <a:p>
            <a:pPr algn="l" marL="127000" indent="-127000">
              <a:lnSpc>
                <a:spcPts val="2520"/>
              </a:lnSpc>
              <a:spcAft>
                <a:spcPts val="1300"/>
              </a:spcAft>
              <a:buSzPct val="100000"/>
              <a:buChar char="•"/>
            </a:pPr>
            <a:r>
              <a:rPr lang="en-US" sz="18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权重对V加权求和。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44401" y="3860750"/>
            <a:ext cx="459861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图左为单个注意力计算，图右为多个头的并行计算。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31750" y="4813250"/>
            <a:ext cx="8031379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spcAft>
                <a:spcPts val="12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来源：Vaswani 等，Attention Is All You Need，PDF第4页，Figure 2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521601" y="4813250"/>
            <a:ext cx="144063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spcAft>
                <a:spcPts val="12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81000"/>
            <a:ext cx="8445957" cy="464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58"/>
              </a:lnSpc>
              <a:buNone/>
            </a:pPr>
            <a:r>
              <a:rPr lang="en-US" sz="31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多头注意力的维度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431750" y="1396901"/>
            <a:ext cx="8419999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spcAft>
                <a:spcPts val="1200"/>
              </a:spcAft>
              <a:buNone/>
            </a:pPr>
            <a:r>
              <a:rPr lang="en-US" sz="22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同一输入通过不同线性投影，进入多个注意力头。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31750" y="1912441"/>
            <a:ext cx="841999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MultiHead = Concat(head₁, …, headₕ)Wᴼ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31750" y="2407741"/>
            <a:ext cx="841999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Base：d_model = 512，h = 8，dₖ = dᵥ = 64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31750" y="2903041"/>
            <a:ext cx="8254901" cy="1290042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520"/>
              </a:lnSpc>
              <a:spcAft>
                <a:spcPts val="1300"/>
              </a:spcAft>
              <a:buSzPct val="100000"/>
              <a:buChar char="•"/>
            </a:pPr>
            <a:r>
              <a:rPr lang="en-US" sz="18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每个头在不同的表示子空间计算注意力。</a:t>
            </a:r>
            <a:endParaRPr lang="en-US" sz="1800" dirty="0"/>
          </a:p>
          <a:p>
            <a:pPr algn="l" marL="127000" indent="-127000">
              <a:lnSpc>
                <a:spcPts val="2520"/>
              </a:lnSpc>
              <a:spcAft>
                <a:spcPts val="1300"/>
              </a:spcAft>
              <a:buSzPct val="100000"/>
              <a:buChar char="•"/>
            </a:pPr>
            <a:r>
              <a:rPr lang="en-US" sz="18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拼接各头后再投影，输出仍为512维。</a:t>
            </a:r>
            <a:endParaRPr lang="en-US" sz="1800" dirty="0"/>
          </a:p>
          <a:p>
            <a:pPr algn="l" marL="127000" indent="-127000">
              <a:lnSpc>
                <a:spcPts val="2520"/>
              </a:lnSpc>
              <a:spcAft>
                <a:spcPts val="1300"/>
              </a:spcAft>
              <a:buSzPct val="100000"/>
              <a:buChar char="•"/>
            </a:pPr>
            <a:r>
              <a:rPr lang="en-US" sz="18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这是原论文Base配置，不是本章Qwen3的16个Query头。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31750" y="4813250"/>
            <a:ext cx="8031379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spcAft>
                <a:spcPts val="12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来源：Vaswani 等，Attention Is All You Need，PDF第4–5页，§3.2.2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521601" y="4813250"/>
            <a:ext cx="144063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spcAft>
                <a:spcPts val="12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81000"/>
            <a:ext cx="8445957" cy="464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58"/>
              </a:lnSpc>
              <a:buNone/>
            </a:pPr>
            <a:r>
              <a:rPr lang="en-US" sz="31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三种注意力的输入与可见范围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431750" y="3949601"/>
            <a:ext cx="841999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解码器掩码挡住未来位置；交叉注意力读取编码器已经得到的输入表示。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31750" y="4813250"/>
            <a:ext cx="8031379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spcAft>
                <a:spcPts val="12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来源：Vaswani 等，Attention Is All You Need，PDF第5页，§3.2.3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521601" y="4813250"/>
            <a:ext cx="144063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spcAft>
                <a:spcPts val="12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1750" y="1422350"/>
          <a:ext cx="8254901" cy="2209800"/>
        </p:xfrm>
        <a:graphic>
          <a:graphicData uri="http://schemas.openxmlformats.org/drawingml/2006/table">
            <a:tbl>
              <a:tblPr/>
              <a:tblGrid>
                <a:gridCol w="1938528"/>
                <a:gridCol w="1901952"/>
                <a:gridCol w="2395728"/>
                <a:gridCol w="2011680"/>
              </a:tblGrid>
              <a:tr h="5524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32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注意力位置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32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Q来自哪里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32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 / V来自哪里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32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可见范围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7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32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编码器自注意力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32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编码器当前表示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32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同一输入序列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32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全部输入位置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32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解码器自注意力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32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解码器当前表示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32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同一输出序列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32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已知输出位置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32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编码器—解码器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32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解码器表示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32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编码器输出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32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全部输入位置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81000"/>
            <a:ext cx="8445957" cy="464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58"/>
              </a:lnSpc>
              <a:buNone/>
            </a:pPr>
            <a:r>
              <a:rPr lang="en-US" sz="31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位置信息与前馈网络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431750" y="1396901"/>
            <a:ext cx="8419999" cy="27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Aft>
                <a:spcPts val="900"/>
              </a:spcAft>
              <a:buNone/>
            </a:pPr>
            <a:r>
              <a:rPr lang="en-US" sz="1600" b="1" dirty="0">
                <a:solidFill>
                  <a:srgbClr val="126D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位置编码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31750" y="1785342"/>
            <a:ext cx="8419999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spcAft>
                <a:spcPts val="1200"/>
              </a:spcAft>
              <a:buNone/>
            </a:pPr>
            <a:r>
              <a:rPr lang="en-US" sz="18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输入嵌入与同维度的位置编码相加。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31750" y="2246263"/>
            <a:ext cx="841999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PE(pos, 2i) = sin(pos / 10000^(2i/d_model))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31750" y="2674888"/>
            <a:ext cx="841999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PE(pos, 2i+1) = cos(pos / 10000^(2i/d_model))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31750" y="3103513"/>
            <a:ext cx="8419999" cy="27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Aft>
                <a:spcPts val="900"/>
              </a:spcAft>
              <a:buNone/>
            </a:pPr>
            <a:r>
              <a:rPr lang="en-US" sz="1600" b="1" dirty="0">
                <a:solidFill>
                  <a:srgbClr val="126D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逐位置前馈网络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31750" y="3491954"/>
            <a:ext cx="841999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FFN(x) = max(0, xW₁ + b₁)W₂ + b₂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31750" y="3987254"/>
            <a:ext cx="841999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Base：512维输入，中间层2048维，输出512维。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31750" y="4813250"/>
            <a:ext cx="8031379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spcAft>
                <a:spcPts val="12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来源：Vaswani 等，Attention Is All You Need，PDF第5–6页，§3.3、§3.5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521601" y="4813250"/>
            <a:ext cx="144063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spcAft>
                <a:spcPts val="12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81000"/>
            <a:ext cx="8445957" cy="464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58"/>
              </a:lnSpc>
              <a:buNone/>
            </a:pPr>
            <a:r>
              <a:rPr lang="en-US" sz="31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自注意力的计算代价</a:t>
            </a:r>
            <a:endParaRPr lang="en-US" sz="3100" dirty="0"/>
          </a:p>
        </p:txBody>
      </p:sp>
      <p:pic>
        <p:nvPicPr>
          <p:cNvPr id="3" name="Image 0" descr="E:/AI_Agents_Book/第二章/2.6论文生成演示文稿/运行结果/20261012_codex_from_scratch/source_visuals/table1_complex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3136" y="1600200"/>
            <a:ext cx="4238030" cy="9270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22950" y="1422350"/>
            <a:ext cx="2501801" cy="2249984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520"/>
              </a:lnSpc>
              <a:spcAft>
                <a:spcPts val="1300"/>
              </a:spcAft>
              <a:buSzPct val="100000"/>
              <a:buChar char="•"/>
            </a:pPr>
            <a:r>
              <a:rPr lang="en-US" sz="18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全局自注意力：每层O(n²d)。</a:t>
            </a:r>
            <a:endParaRPr lang="en-US" sz="1800" dirty="0"/>
          </a:p>
          <a:p>
            <a:pPr algn="l" marL="127000" indent="-127000">
              <a:lnSpc>
                <a:spcPts val="2520"/>
              </a:lnSpc>
              <a:spcAft>
                <a:spcPts val="1300"/>
              </a:spcAft>
              <a:buSzPct val="100000"/>
              <a:buChar char="•"/>
            </a:pPr>
            <a:r>
              <a:rPr lang="en-US" sz="18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顺序操作数和最长路径可为O(1)。</a:t>
            </a:r>
            <a:endParaRPr lang="en-US" sz="1800" dirty="0"/>
          </a:p>
          <a:p>
            <a:pPr algn="l" marL="127000" indent="-127000">
              <a:lnSpc>
                <a:spcPts val="2520"/>
              </a:lnSpc>
              <a:spcAft>
                <a:spcPts val="1300"/>
              </a:spcAft>
              <a:buSzPct val="100000"/>
              <a:buChar char="•"/>
            </a:pPr>
            <a:r>
              <a:rPr lang="en-US" sz="18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序列很长时，二次复杂度仍是代价。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31750" y="2997101"/>
            <a:ext cx="5570169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n为序列长度，d为表示维度。论文指出n &lt; d时，自注意力计算上有优势。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31750" y="4813250"/>
            <a:ext cx="8031379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spcAft>
                <a:spcPts val="12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来源：Vaswani 等，Attention Is All You Need，PDF第6–7页，Table 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521601" y="4813250"/>
            <a:ext cx="144063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spcAft>
                <a:spcPts val="12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81000"/>
            <a:ext cx="8445957" cy="464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58"/>
              </a:lnSpc>
              <a:buNone/>
            </a:pPr>
            <a:r>
              <a:rPr lang="en-US" sz="31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数据与训练设置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431750" y="1396901"/>
            <a:ext cx="8254901" cy="2260104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520"/>
              </a:lnSpc>
              <a:spcAft>
                <a:spcPts val="1300"/>
              </a:spcAft>
              <a:buSzPct val="100000"/>
              <a:buChar char="•"/>
            </a:pPr>
            <a:r>
              <a:rPr lang="en-US" sz="18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WMT 2014英德约450万句对，英法约3600万句对。</a:t>
            </a:r>
            <a:endParaRPr lang="en-US" sz="1800" dirty="0"/>
          </a:p>
          <a:p>
            <a:pPr algn="l" marL="127000" indent="-127000">
              <a:lnSpc>
                <a:spcPts val="2520"/>
              </a:lnSpc>
              <a:spcAft>
                <a:spcPts val="1300"/>
              </a:spcAft>
              <a:buSzPct val="100000"/>
              <a:buChar char="•"/>
            </a:pPr>
            <a:r>
              <a:rPr lang="en-US" sz="18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8张NVIDIA P100：Base约12小时，Big约3.5天。</a:t>
            </a:r>
            <a:endParaRPr lang="en-US" sz="1800" dirty="0"/>
          </a:p>
          <a:p>
            <a:pPr algn="l" marL="127000" indent="-127000">
              <a:lnSpc>
                <a:spcPts val="2520"/>
              </a:lnSpc>
              <a:spcAft>
                <a:spcPts val="1300"/>
              </a:spcAft>
              <a:buSzPct val="100000"/>
              <a:buChar char="•"/>
            </a:pPr>
            <a:r>
              <a:rPr lang="en-US" sz="18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Adam：β₁=0.9，β₂=0.98，ε=10⁻⁹。</a:t>
            </a:r>
            <a:endParaRPr lang="en-US" sz="1800" dirty="0"/>
          </a:p>
          <a:p>
            <a:pPr algn="l" marL="127000" indent="-127000">
              <a:lnSpc>
                <a:spcPts val="2520"/>
              </a:lnSpc>
              <a:spcAft>
                <a:spcPts val="1300"/>
              </a:spcAft>
              <a:buSzPct val="100000"/>
              <a:buChar char="•"/>
            </a:pPr>
            <a:r>
              <a:rPr lang="en-US" sz="18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前4000步学习率预热，之后按步数的逆平方根下降。</a:t>
            </a:r>
            <a:endParaRPr lang="en-US" sz="1800" dirty="0"/>
          </a:p>
          <a:p>
            <a:pPr algn="l" marL="127000" indent="-127000">
              <a:lnSpc>
                <a:spcPts val="2520"/>
              </a:lnSpc>
              <a:spcAft>
                <a:spcPts val="1300"/>
              </a:spcAft>
              <a:buSzPct val="100000"/>
              <a:buChar char="•"/>
            </a:pPr>
            <a:r>
              <a:rPr lang="en-US" sz="18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Base使用dropout 0.1，标签平滑0.1。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31750" y="3822055"/>
            <a:ext cx="841999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以上为论文训练记录，本次未重新训练Transformer。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31750" y="4813250"/>
            <a:ext cx="8031379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spcAft>
                <a:spcPts val="12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来源：Vaswani 等，Attention Is All You Need，PDF第7–8页，§5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521601" y="4813250"/>
            <a:ext cx="144063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spcAft>
                <a:spcPts val="12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81000"/>
            <a:ext cx="8445957" cy="464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58"/>
              </a:lnSpc>
              <a:buNone/>
            </a:pPr>
            <a:r>
              <a:rPr lang="en-US" sz="31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机器翻译结果</a:t>
            </a:r>
            <a:endParaRPr lang="en-US" sz="3100" dirty="0"/>
          </a:p>
        </p:txBody>
      </p:sp>
      <p:pic>
        <p:nvPicPr>
          <p:cNvPr id="3" name="Image 0" descr="E:/AI_Agents_Book/第二章/2.6论文生成演示文稿/运行结果/20261012_codex_from_scratch/source_visuals/table2_transl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1750" y="1530102"/>
            <a:ext cx="5473601" cy="23115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11801" y="1422350"/>
            <a:ext cx="2448306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0"/>
              </a:lnSpc>
              <a:spcAft>
                <a:spcPts val="800"/>
              </a:spcAft>
              <a:buNone/>
            </a:pPr>
            <a:r>
              <a:rPr lang="en-US" sz="3900" b="1" dirty="0">
                <a:solidFill>
                  <a:srgbClr val="126D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28.4</a:t>
            </a:r>
            <a:endParaRPr lang="en-US" sz="3900" dirty="0"/>
          </a:p>
        </p:txBody>
      </p:sp>
      <p:sp>
        <p:nvSpPr>
          <p:cNvPr id="5" name="Text 2"/>
          <p:cNvSpPr/>
          <p:nvPr/>
        </p:nvSpPr>
        <p:spPr>
          <a:xfrm>
            <a:off x="6311801" y="2019151"/>
            <a:ext cx="2448306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· 英德BLEU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311801" y="2447776"/>
            <a:ext cx="2448306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0"/>
              </a:lnSpc>
              <a:spcAft>
                <a:spcPts val="800"/>
              </a:spcAft>
              <a:buNone/>
            </a:pPr>
            <a:r>
              <a:rPr lang="en-US" sz="3900" b="1" dirty="0">
                <a:solidFill>
                  <a:srgbClr val="126D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41.8</a:t>
            </a:r>
            <a:endParaRPr lang="en-US" sz="3900" dirty="0"/>
          </a:p>
        </p:txBody>
      </p:sp>
      <p:sp>
        <p:nvSpPr>
          <p:cNvPr id="7" name="Text 4"/>
          <p:cNvSpPr/>
          <p:nvPr/>
        </p:nvSpPr>
        <p:spPr>
          <a:xfrm>
            <a:off x="6311801" y="3044577"/>
            <a:ext cx="2448306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· 英法BLEU，按表2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31750" y="4140101"/>
            <a:ext cx="841999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表2与摘要给出英法41.8，正文§6.1写41.0；本页保留这处原文不一致。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31750" y="4813250"/>
            <a:ext cx="8031379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spcAft>
                <a:spcPts val="12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来源：Vaswani 等，Attention Is All You Need，PDF第8页，Table 2、§6.1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521601" y="4813250"/>
            <a:ext cx="144063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spcAft>
                <a:spcPts val="12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81000"/>
            <a:ext cx="8445957" cy="464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58"/>
              </a:lnSpc>
              <a:buNone/>
            </a:pPr>
            <a:r>
              <a:rPr lang="en-US" sz="31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组件变化与开发集表现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184850" y="1435001"/>
            <a:ext cx="2539901" cy="2249984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520"/>
              </a:lnSpc>
              <a:spcAft>
                <a:spcPts val="1300"/>
              </a:spcAft>
              <a:buSzPct val="100000"/>
              <a:buChar char="•"/>
            </a:pPr>
            <a:r>
              <a:rPr lang="en-US" sz="18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单头24.9，比Base低0.9 BLEU。</a:t>
            </a:r>
            <a:endParaRPr lang="en-US" sz="1800" dirty="0"/>
          </a:p>
          <a:p>
            <a:pPr algn="l" marL="127000" indent="-127000">
              <a:lnSpc>
                <a:spcPts val="2520"/>
              </a:lnSpc>
              <a:spcAft>
                <a:spcPts val="1300"/>
              </a:spcAft>
              <a:buSzPct val="100000"/>
              <a:buChar char="•"/>
            </a:pPr>
            <a:r>
              <a:rPr lang="en-US" sz="18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头数增加不保证持续提高。</a:t>
            </a:r>
            <a:endParaRPr lang="en-US" sz="1800" dirty="0"/>
          </a:p>
          <a:p>
            <a:pPr algn="l" marL="127000" indent="-127000">
              <a:lnSpc>
                <a:spcPts val="2520"/>
              </a:lnSpc>
              <a:spcAft>
                <a:spcPts val="1300"/>
              </a:spcAft>
              <a:buSzPct val="100000"/>
              <a:buChar char="•"/>
            </a:pPr>
            <a:r>
              <a:rPr lang="en-US" sz="18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可学习位置嵌入与正弦方案接近。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184850" y="3850035"/>
            <a:ext cx="259069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这些是newstest2013开发集结果，不与上一页测试集分数直接比较。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31750" y="4813250"/>
            <a:ext cx="8031379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spcAft>
                <a:spcPts val="12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来源：Vaswani 等，Attention Is All You Need，PDF第9页，Table 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521601" y="4813250"/>
            <a:ext cx="134499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spcAft>
                <a:spcPts val="12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1750" y="1396901"/>
          <a:ext cx="5397401" cy="2819400"/>
        </p:xfrm>
        <a:graphic>
          <a:graphicData uri="http://schemas.openxmlformats.org/drawingml/2006/table">
            <a:tbl>
              <a:tblPr/>
              <a:tblGrid>
                <a:gridCol w="4023360"/>
                <a:gridCol w="1371600"/>
              </a:tblGrid>
              <a:tr h="4027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732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配置，其他项沿用Base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732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BLEU(dev)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7"/>
                    </a:solidFill>
                  </a:tcPr>
                </a:tc>
              </a:tr>
              <a:tr h="4027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32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Base，8头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32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25.8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7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32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1头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32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24.9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7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32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4头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32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25.5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7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32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16头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32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25.8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7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32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32头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32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25.4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7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32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可学习位置嵌入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32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25.7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81000"/>
            <a:ext cx="8445957" cy="464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58"/>
              </a:lnSpc>
              <a:buNone/>
            </a:pPr>
            <a:r>
              <a:rPr lang="en-US" sz="31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注意力中的远距离依赖</a:t>
            </a:r>
            <a:endParaRPr lang="en-US" sz="3100" dirty="0"/>
          </a:p>
        </p:txBody>
      </p:sp>
      <p:pic>
        <p:nvPicPr>
          <p:cNvPr id="3" name="Image 0" descr="E:/AI_Agents_Book/第二章/2.6论文生成演示文稿/运行结果/20261012_codex_from_scratch/source_visuals/figure3_dependenc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373" y="1333500"/>
            <a:ext cx="4831556" cy="26161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22950" y="1422350"/>
            <a:ext cx="2551837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spcAft>
                <a:spcPts val="1200"/>
              </a:spcAft>
              <a:buNone/>
            </a:pPr>
            <a:r>
              <a:rPr lang="en-US" sz="22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远距离依赖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222950" y="1937891"/>
            <a:ext cx="2501801" cy="1930003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520"/>
              </a:lnSpc>
              <a:spcAft>
                <a:spcPts val="1300"/>
              </a:spcAft>
              <a:buSzPct val="100000"/>
              <a:buChar char="•"/>
            </a:pPr>
            <a:r>
              <a:rPr lang="en-US" sz="18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只展示making位置。</a:t>
            </a:r>
            <a:endParaRPr lang="en-US" sz="1800" dirty="0"/>
          </a:p>
          <a:p>
            <a:pPr algn="l" marL="127000" indent="-127000">
              <a:lnSpc>
                <a:spcPts val="2520"/>
              </a:lnSpc>
              <a:spcAft>
                <a:spcPts val="1300"/>
              </a:spcAft>
              <a:buSzPct val="100000"/>
              <a:buChar char="•"/>
            </a:pPr>
            <a:r>
              <a:rPr lang="en-US" sz="18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不同颜色代表不同头。</a:t>
            </a:r>
            <a:endParaRPr lang="en-US" sz="1800" dirty="0"/>
          </a:p>
          <a:p>
            <a:pPr algn="l" marL="127000" indent="-127000">
              <a:lnSpc>
                <a:spcPts val="2520"/>
              </a:lnSpc>
              <a:spcAft>
                <a:spcPts val="1300"/>
              </a:spcAft>
              <a:buSzPct val="100000"/>
              <a:buChar char="•"/>
            </a:pPr>
            <a:r>
              <a:rPr lang="en-US" sz="18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编码器第5层，共6层。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31750" y="4191000"/>
            <a:ext cx="841999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原文示例：making … more difficult。注意力图提示关联，不能单凭权重判断因果重要性。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31750" y="4813250"/>
            <a:ext cx="8031379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spcAft>
                <a:spcPts val="12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来源：Vaswani 等，Attention Is All You Need，PDF第13页，Figure 3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521601" y="4813250"/>
            <a:ext cx="144063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spcAft>
                <a:spcPts val="12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81000"/>
            <a:ext cx="8445957" cy="464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58"/>
              </a:lnSpc>
              <a:buNone/>
            </a:pPr>
            <a:r>
              <a:rPr lang="en-US" sz="31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英语成分句法分析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197501" y="1396901"/>
            <a:ext cx="2577795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spcAft>
                <a:spcPts val="1200"/>
              </a:spcAft>
              <a:buNone/>
            </a:pPr>
            <a:r>
              <a:rPr lang="en-US" sz="22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4层Transformer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197501" y="2082701"/>
            <a:ext cx="2577795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spcAft>
                <a:spcPts val="1200"/>
              </a:spcAft>
              <a:buNone/>
            </a:pPr>
            <a:r>
              <a:rPr lang="en-US" sz="18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d_model = 1024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197501" y="2667000"/>
            <a:ext cx="257779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WSJ：约4万句。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197501" y="3174950"/>
            <a:ext cx="257779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半监督：约1700万句。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31750" y="3848100"/>
            <a:ext cx="841999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评测为WSJ Section 23的F1。不同训练条件分开比较，92.7不是所有表列方法的最高分。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1750" y="4813250"/>
            <a:ext cx="8031379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spcAft>
                <a:spcPts val="12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来源：Vaswani 等，Attention Is All You Need，PDF第9–10页，Table 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521601" y="4813250"/>
            <a:ext cx="144063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spcAft>
                <a:spcPts val="12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1750" y="1447800"/>
          <a:ext cx="5435501" cy="2006501"/>
        </p:xfrm>
        <a:graphic>
          <a:graphicData uri="http://schemas.openxmlformats.org/drawingml/2006/table">
            <a:tbl>
              <a:tblPr/>
              <a:tblGrid>
                <a:gridCol w="4114800"/>
                <a:gridCol w="1316736"/>
              </a:tblGrid>
              <a:tr h="6688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732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Transformer训练条件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732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WSJ 23 F1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7"/>
                    </a:solidFill>
                  </a:tcPr>
                </a:tc>
              </a:tr>
              <a:tr h="6688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732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仅WSJ，有监督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732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91.3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88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732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半监督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732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92.7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81000"/>
            <a:ext cx="8445957" cy="464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58"/>
              </a:lnSpc>
              <a:buNone/>
            </a:pPr>
            <a:r>
              <a:rPr lang="en-US" sz="31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贡献与适用边界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431750" y="1396901"/>
            <a:ext cx="8419999" cy="27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Aft>
                <a:spcPts val="900"/>
              </a:spcAft>
              <a:buNone/>
            </a:pPr>
            <a:r>
              <a:rPr lang="en-US" sz="1600" b="1" dirty="0">
                <a:solidFill>
                  <a:srgbClr val="126D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主要贡献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31750" y="1785342"/>
            <a:ext cx="8254901" cy="805011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520"/>
              </a:lnSpc>
              <a:spcAft>
                <a:spcPts val="1300"/>
              </a:spcAft>
              <a:buSzPct val="100000"/>
              <a:buChar char="•"/>
            </a:pPr>
            <a:r>
              <a:rPr lang="en-US" sz="18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用多头注意力组织编码器—解码器，减少循环计算。</a:t>
            </a:r>
            <a:endParaRPr lang="en-US" sz="1800" dirty="0"/>
          </a:p>
          <a:p>
            <a:pPr algn="l" marL="127000" indent="-127000">
              <a:lnSpc>
                <a:spcPts val="2520"/>
              </a:lnSpc>
              <a:spcAft>
                <a:spcPts val="1300"/>
              </a:spcAft>
              <a:buSzPct val="100000"/>
              <a:buChar char="•"/>
            </a:pPr>
            <a:r>
              <a:rPr lang="en-US" sz="18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在论文机器翻译任务上取得较高BLEU，并报告较低训练成本。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31750" y="2755404"/>
            <a:ext cx="8419999" cy="27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Aft>
                <a:spcPts val="900"/>
              </a:spcAft>
              <a:buNone/>
            </a:pPr>
            <a:r>
              <a:rPr lang="en-US" sz="1600" b="1" dirty="0">
                <a:solidFill>
                  <a:srgbClr val="126D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需要保留的边界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31750" y="3143845"/>
            <a:ext cx="8254901" cy="1290042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520"/>
              </a:lnSpc>
              <a:spcAft>
                <a:spcPts val="1300"/>
              </a:spcAft>
              <a:buSzPct val="100000"/>
              <a:buChar char="•"/>
            </a:pPr>
            <a:r>
              <a:rPr lang="en-US" sz="18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全局注意力随序列长度呈二次复杂度增长。</a:t>
            </a:r>
            <a:endParaRPr lang="en-US" sz="1800" dirty="0"/>
          </a:p>
          <a:p>
            <a:pPr algn="l" marL="127000" indent="-127000">
              <a:lnSpc>
                <a:spcPts val="2520"/>
              </a:lnSpc>
              <a:spcAft>
                <a:spcPts val="1300"/>
              </a:spcAft>
              <a:buSzPct val="100000"/>
              <a:buChar char="•"/>
            </a:pPr>
            <a:r>
              <a:rPr lang="en-US" sz="18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训练并行不代表自回归推理完全并行。</a:t>
            </a:r>
            <a:endParaRPr lang="en-US" sz="1800" dirty="0"/>
          </a:p>
          <a:p>
            <a:pPr algn="l" marL="127000" indent="-127000">
              <a:lnSpc>
                <a:spcPts val="2520"/>
              </a:lnSpc>
              <a:spcAft>
                <a:spcPts val="1300"/>
              </a:spcAft>
              <a:buSzPct val="100000"/>
              <a:buChar char="•"/>
            </a:pPr>
            <a:r>
              <a:rPr lang="en-US" sz="18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结果属于论文任务与训练设置，不能直接外推到所有任务。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31750" y="4813250"/>
            <a:ext cx="8031379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spcAft>
                <a:spcPts val="12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来源：Vaswani 等，Attention Is All You Need，PDF第2、6–10页，§7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521601" y="4813250"/>
            <a:ext cx="144063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spcAft>
                <a:spcPts val="12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Attention Is All You Need</dc:title>
  <dc:subject>Transformer原论文学习汇报</dc:subject>
  <dc:creator>李卓凡</dc:creator>
  <cp:lastModifiedBy>李卓凡</cp:lastModifiedBy>
  <cp:revision>1</cp:revision>
  <dcterms:created xsi:type="dcterms:W3CDTF">2026-10-12T08:15:40Z</dcterms:created>
  <dcterms:modified xsi:type="dcterms:W3CDTF">2026-10-12T08:15:40Z</dcterms:modified>
</cp:coreProperties>
</file>